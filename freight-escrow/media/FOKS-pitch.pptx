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863d249e754a60" /><Relationship Type="http://schemas.openxmlformats.org/officeDocument/2006/relationships/extended-properties" Target="/docProps/app.xml" Id="R2caf34561f10484a" /><Relationship Type="http://schemas.openxmlformats.org/officeDocument/2006/relationships/officeDocument" Target="/ppt/presentation.xml" Id="R1bf8797146a1456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c2bd0334de4d87"/>
  </p:sldMasterIdLst>
  <p:notesMasterIdLst>
    <p:notesMasterId xmlns:r="http://schemas.openxmlformats.org/officeDocument/2006/relationships" r:id="Ra91f83fa32f74c4c"/>
  </p:notesMasterIdLst>
  <p:sldIdLst>
    <p:sldId xmlns:r="http://schemas.openxmlformats.org/officeDocument/2006/relationships" id="256" r:id="R74e480bfbab04cd3"/>
    <p:sldId xmlns:r="http://schemas.openxmlformats.org/officeDocument/2006/relationships" id="257" r:id="Ra0da09b5d654456c"/>
    <p:sldId xmlns:r="http://schemas.openxmlformats.org/officeDocument/2006/relationships" id="258" r:id="Ree60f8aed9eb4b37"/>
    <p:sldId xmlns:r="http://schemas.openxmlformats.org/officeDocument/2006/relationships" id="259" r:id="R77eb8f864c954ae7"/>
    <p:sldId xmlns:r="http://schemas.openxmlformats.org/officeDocument/2006/relationships" id="260" r:id="R71ec047e9bc445d9"/>
    <p:sldId xmlns:r="http://schemas.openxmlformats.org/officeDocument/2006/relationships" id="261" r:id="Rc08c3f5605af4b45"/>
  </p:sldIdLst>
  <p:sldSz cx="6858000" cy="12192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c6f2650995478b" /><Relationship Type="http://schemas.openxmlformats.org/officeDocument/2006/relationships/slideMaster" Target="/ppt/slideMasters/slideMaster1.xml" Id="Rc8c2bd0334de4d87" /><Relationship Type="http://schemas.openxmlformats.org/officeDocument/2006/relationships/notesMaster" Target="/ppt/notesMasters/notesMaster1.xml" Id="Ra91f83fa32f74c4c" /><Relationship Type="http://schemas.openxmlformats.org/officeDocument/2006/relationships/presProps" Target="/ppt/presProps.xml" Id="Rf42f6bc6123d400c" /><Relationship Type="http://schemas.openxmlformats.org/officeDocument/2006/relationships/tableStyles" Target="/ppt/tableStyles.xml" Id="R490170a4ce2f40dc" /><Relationship Type="http://schemas.openxmlformats.org/officeDocument/2006/relationships/slide" Target="/ppt/slides/slide1.xml" Id="R74e480bfbab04cd3" /><Relationship Type="http://schemas.openxmlformats.org/officeDocument/2006/relationships/slide" Target="/ppt/slides/slide2.xml" Id="Ra0da09b5d654456c" /><Relationship Type="http://schemas.openxmlformats.org/officeDocument/2006/relationships/slide" Target="/ppt/slides/slide3.xml" Id="Ree60f8aed9eb4b37" /><Relationship Type="http://schemas.openxmlformats.org/officeDocument/2006/relationships/slide" Target="/ppt/slides/slide4.xml" Id="R77eb8f864c954ae7" /><Relationship Type="http://schemas.openxmlformats.org/officeDocument/2006/relationships/slide" Target="/ppt/slides/slide5.xml" Id="R71ec047e9bc445d9" /><Relationship Type="http://schemas.openxmlformats.org/officeDocument/2006/relationships/slide" Target="/ppt/slides/slide6.xml" Id="Rc08c3f5605af4b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f38e57ded449d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ea584d237c40c0" /><Relationship Type="http://schemas.openxmlformats.org/officeDocument/2006/relationships/notesMaster" Target="/ppt/notesMasters/notesMaster1.xml" Id="R47a55908e1d8435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12314c1d1de4bdc" /><Relationship Type="http://schemas.openxmlformats.org/officeDocument/2006/relationships/notesMaster" Target="/ppt/notesMasters/notesMaster1.xml" Id="Rfe76107e938348a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b4b18c74ffb41cd" /><Relationship Type="http://schemas.openxmlformats.org/officeDocument/2006/relationships/notesMaster" Target="/ppt/notesMasters/notesMaster1.xml" Id="R850cda74ab34451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b30c21bd413499c" /><Relationship Type="http://schemas.openxmlformats.org/officeDocument/2006/relationships/notesMaster" Target="/ppt/notesMasters/notesMaster1.xml" Id="R3387a0a0875a4f8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c79631b405c453a" /><Relationship Type="http://schemas.openxmlformats.org/officeDocument/2006/relationships/notesMaster" Target="/ppt/notesMasters/notesMaster1.xml" Id="R130404246cce4e5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714113bd50f495d" /><Relationship Type="http://schemas.openxmlformats.org/officeDocument/2006/relationships/notesMaster" Target="/ppt/notesMasters/notesMaster1.xml" Id="R27bf1ac5cdfd43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proposal; no deployment, audit, customers or final competition submission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hypothesis, not a claim of validated demand or measured market size. Initial scope excludes fiat, lending and factoring.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contract does not independently verify physical delivery. Arbitrator trust and shipper approval are explicit assumptions.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Host compilation is not a validator or SBF execution. Interactive demo uses simulated tokens and is not a blockchain client.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Production requires an explicit USDC mint allowlist, independent audit and remediation. Current program ID is a development placeholder. No live funds.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limited-mainnet target Q1 2027, contingent on audit and testing. Founder identity, time commitment, financing history and fundraising plan require confirmation. Credits are noncash audit support.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b801e47a754c4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f4ecba8a084b0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fad6b32233434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5a2988eadc4cc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c7613811a145e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af175252da45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0C23FBCE-5CCC-425D-9DCB-36AF9D398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928533"/>
            <a:ext cx="342900" cy="6773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D6BFA6B-B945-4FC0-89B6-8F0D3AB43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4605867"/>
            <a:ext cx="5486400" cy="1761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9E659920-6989-4B8F-951C-7168A55758C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028700" y="6705600"/>
            <a:ext cx="4800600" cy="1354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8FEF225E-C925-4D2C-9F27-F703C644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402667"/>
            <a:ext cx="342900" cy="6773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9825E4B-D337-44B3-A8E0-40DCD7BFCB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080000"/>
            <a:ext cx="5486400" cy="20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22F1D8EA-7985-48CA-9771-88CE1C922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3" y="2709333"/>
            <a:ext cx="342900" cy="6773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0241E29-FAC7-4FC6-9E66-FB7F7A9FF3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5763" y="948267"/>
            <a:ext cx="6086475" cy="1490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A68863A4-7587-4324-9877-77F005C9079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5763" y="3386667"/>
            <a:ext cx="6086475" cy="7586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128588" indent="-128587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</a:lvl1pPr>
            <a:lvl2pPr marL="300038" indent="-128587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</a:lvl2pPr>
            <a:lvl3pPr marL="471488" indent="-128587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</a:lvl3pPr>
            <a:lvl4pPr marL="642938" indent="-128587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</a:lvl4pPr>
            <a:lvl5pPr marL="814388" indent="-128587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</a:lvl5pPr>
            <a:lvl6pPr marL="985838" indent="-128587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</a:lvl6pPr>
            <a:lvl7pPr marL="1157288" indent="-128587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</a:lvl7pPr>
            <a:lvl8pPr marL="1328738" indent="-128587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</a:lvl8pPr>
            <a:lvl9pPr marL="1500188" indent="-128587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56EC03C9-4BD4-46AD-B12F-C7D9E57E5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3" y="2709333"/>
            <a:ext cx="342900" cy="6773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80DD37D-FA11-4E03-84C4-062F1826C4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5763" y="948267"/>
            <a:ext cx="6086475" cy="1490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C79D750-C1E5-4039-8D6C-6A09FE39346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5763" y="3386667"/>
            <a:ext cx="2828925" cy="7586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128588" indent="-128587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</a:lvl1pPr>
            <a:lvl2pPr marL="300038" indent="-128587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</a:lvl2pPr>
            <a:lvl3pPr marL="471488" indent="-128587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</a:lvl3pPr>
            <a:lvl4pPr marL="642938" indent="-128587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</a:lvl4pPr>
            <a:lvl5pPr marL="814388" indent="-128587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</a:lvl5pPr>
            <a:lvl6pPr marL="985838" indent="-128587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</a:lvl6pPr>
            <a:lvl7pPr marL="1157288" indent="-128587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</a:lvl7pPr>
            <a:lvl8pPr marL="1328738" indent="-128587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</a:lvl8pPr>
            <a:lvl9pPr marL="1500188" indent="-128587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4031F6B-E841-4F14-A0AD-D32B3E578CC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643313" y="3386667"/>
            <a:ext cx="2828925" cy="7586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128588" indent="-128587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</a:lvl1pPr>
            <a:lvl2pPr marL="300038" indent="-128587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</a:lvl2pPr>
            <a:lvl3pPr marL="471488" indent="-128587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</a:lvl3pPr>
            <a:lvl4pPr marL="642938" indent="-128587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</a:lvl4pPr>
            <a:lvl5pPr marL="814388" indent="-128587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</a:lvl5pPr>
            <a:lvl6pPr marL="985838" indent="-128587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</a:lvl6pPr>
            <a:lvl7pPr marL="1157288" indent="-128587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</a:lvl7pPr>
            <a:lvl8pPr marL="1328738" indent="-128587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</a:lvl8pPr>
            <a:lvl9pPr marL="1500188" indent="-128587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CDFF6457-AECA-41C8-BCC8-959D6C24A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3" y="2709333"/>
            <a:ext cx="342900" cy="6773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875A0BB-07AA-4C60-A9CF-AA93A3A6D8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5763" y="948267"/>
            <a:ext cx="6086475" cy="1490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59DB4CA-A27D-462C-8A4E-BF15A49796E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5763" y="3386667"/>
            <a:ext cx="2828925" cy="7586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128588" indent="-128587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</a:lvl1pPr>
            <a:lvl2pPr marL="300038" indent="-128587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</a:lvl2pPr>
            <a:lvl3pPr marL="471488" indent="-128587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</a:lvl3pPr>
            <a:lvl4pPr marL="642938" indent="-128587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</a:lvl4pPr>
            <a:lvl5pPr marL="814388" indent="-128587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</a:lvl5pPr>
            <a:lvl6pPr marL="985838" indent="-128587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</a:lvl6pPr>
            <a:lvl7pPr marL="1157288" indent="-128587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</a:lvl7pPr>
            <a:lvl8pPr marL="1328738" indent="-128587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</a:lvl8pPr>
            <a:lvl9pPr marL="1500188" indent="-128587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a6b43e4c2d24251" /><Relationship Type="http://schemas.openxmlformats.org/officeDocument/2006/relationships/slideLayout" Target="/ppt/slideLayouts/slideLayout1.xml" Id="Rc4c9a3c8a7304992" /><Relationship Type="http://schemas.openxmlformats.org/officeDocument/2006/relationships/slideLayout" Target="/ppt/slideLayouts/slideLayout2.xml" Id="Rb45f8913920a485f" /><Relationship Type="http://schemas.openxmlformats.org/officeDocument/2006/relationships/slideLayout" Target="/ppt/slideLayouts/slideLayout3.xml" Id="Rc361de277dbc45d1" /><Relationship Type="http://schemas.openxmlformats.org/officeDocument/2006/relationships/slideLayout" Target="/ppt/slideLayouts/slideLayout4.xml" Id="Ra4b005b53d674ed3" /><Relationship Type="http://schemas.openxmlformats.org/officeDocument/2006/relationships/slideLayout" Target="/ppt/slideLayouts/slideLayout5.xml" Id="Rd3fbc417c1de46f9" /><Relationship Type="http://schemas.openxmlformats.org/officeDocument/2006/relationships/slideLayout" Target="/ppt/slideLayouts/slideLayout6.xml" Id="R8ef6e3f5629e48e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c9a3c8a7304992"/>
    <p:sldLayoutId xmlns:r="http://schemas.openxmlformats.org/officeDocument/2006/relationships" id="2147483650" r:id="Rb45f8913920a485f"/>
    <p:sldLayoutId xmlns:r="http://schemas.openxmlformats.org/officeDocument/2006/relationships" id="2147483651" r:id="Rc361de277dbc45d1"/>
    <p:sldLayoutId xmlns:r="http://schemas.openxmlformats.org/officeDocument/2006/relationships" id="2147483652" r:id="Ra4b005b53d674ed3"/>
    <p:sldLayoutId xmlns:r="http://schemas.openxmlformats.org/officeDocument/2006/relationships" id="2147483653" r:id="Rd3fbc417c1de46f9"/>
    <p:sldLayoutId xmlns:r="http://schemas.openxmlformats.org/officeDocument/2006/relationships" id="2147483654" r:id="R8ef6e3f5629e48e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9224442857481b" /><Relationship Type="http://schemas.openxmlformats.org/officeDocument/2006/relationships/notesSlide" Target="/ppt/notesSlides/notesSlide1.xml" Id="Rcb1cd673631f4c1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ed5627f55a43e5" /><Relationship Type="http://schemas.openxmlformats.org/officeDocument/2006/relationships/notesSlide" Target="/ppt/notesSlides/notesSlide2.xml" Id="Ra6ed6f41c7c64a9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aa06ee8b4648e2" /><Relationship Type="http://schemas.openxmlformats.org/officeDocument/2006/relationships/notesSlide" Target="/ppt/notesSlides/notesSlide3.xml" Id="R3ce02606cf3947b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d2232480eb4390" /><Relationship Type="http://schemas.openxmlformats.org/officeDocument/2006/relationships/notesSlide" Target="/ppt/notesSlides/notesSlide4.xml" Id="Rf7d07dcf670949b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55412477fb4889" /><Relationship Type="http://schemas.openxmlformats.org/officeDocument/2006/relationships/notesSlide" Target="/ppt/notesSlides/notesSlide5.xml" Id="R5bc4dad8d725418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f32c8fcce543ee" /><Relationship Type="http://schemas.openxmlformats.org/officeDocument/2006/relationships/notesSlide" Target="/ppt/notesSlides/notesSlide6.xml" Id="R9e56a9b57a61460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1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AFE5B9-7D60-487B-9303-9D5164985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5791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1DCB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51DCBD"/>
                </a:solidFill>
                <a:latin typeface="Bitstream Charter"/>
                <a:ea typeface="Bitstream Charter"/>
                <a:cs typeface="Bitstream Charter"/>
              </a:rPr>
              <a:t>01 / 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234558-8C91-4037-8B76-128C74BEA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57912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FF6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EFF6FF"/>
                </a:solidFill>
                <a:latin typeface="Bitstream Charter"/>
                <a:ea typeface="Bitstream Charter"/>
                <a:cs typeface="Bitstream Charter"/>
              </a:rPr>
              <a:t>FOKS</a:t>
            </a:r>
          </a:p>
          <a:p xmlns:a="http://schemas.openxmlformats.org/drawingml/2006/main">
            <a:pPr>
              <a:defRPr sz="3600" b="1">
                <a:solidFill>
                  <a:srgbClr val="EFF6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EFF6FF"/>
                </a:solidFill>
                <a:latin typeface="Bitstream Charter"/>
                <a:ea typeface="Bitstream Charter"/>
                <a:cs typeface="Bitstream Charter"/>
              </a:rPr>
              <a:t>Freight Escrow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C5BBB7-BF90-4C53-A589-B015C8365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0"/>
            <a:ext cx="57912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7CDD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B7CDDF"/>
                </a:solidFill>
                <a:latin typeface="Bitstream Charter"/>
                <a:ea typeface="Bitstream Charter"/>
                <a:cs typeface="Bitstream Charter"/>
              </a:rPr>
              <a:t>Reserve payment before the load.</a:t>
            </a:r>
          </a:p>
          <a:p xmlns:a="http://schemas.openxmlformats.org/drawingml/2006/main">
            <a:pPr>
              <a:defRPr sz="2025" b="0">
                <a:solidFill>
                  <a:srgbClr val="B7CDD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B7CDDF"/>
                </a:solidFill>
                <a:latin typeface="Bitstream Charter"/>
                <a:ea typeface="Bitstream Charter"/>
                <a:cs typeface="Bitstream Charter"/>
              </a:rPr>
              <a:t>Release it after delivery approval.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7DA7EC-8160-46D3-9871-C52DB810B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0"/>
            <a:ext cx="579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51DCB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51DCBD"/>
                </a:solidFill>
                <a:latin typeface="Bitstream Charter"/>
                <a:ea typeface="Bitstream Charter"/>
                <a:cs typeface="Bitstream Charter"/>
              </a:rPr>
              <a:t>Solana freight payments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316F2D-2E21-4C8A-BEDA-561DCA81E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72200"/>
            <a:ext cx="57912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FF6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EFF6FF"/>
                </a:solidFill>
                <a:latin typeface="Bitstream Charter"/>
                <a:ea typeface="Bitstream Charter"/>
                <a:cs typeface="Bitstream Charter"/>
              </a:rPr>
              <a:t>For shippers and carriers who agree to stablecoin settlement.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47A114-2E07-4966-B7D4-8D9E3D195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20000"/>
            <a:ext cx="579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51DCB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51DCBD"/>
                </a:solidFill>
                <a:latin typeface="Bitstream Charter"/>
                <a:ea typeface="Bitstream Charter"/>
                <a:cs typeface="Bitstream Charter"/>
              </a:rPr>
              <a:t>Development prototype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60B876-BD94-4B6F-9858-CA493909F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72450"/>
            <a:ext cx="57912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FF6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EFF6FF"/>
                </a:solidFill>
                <a:latin typeface="Bitstream Charter"/>
                <a:ea typeface="Bitstream Charter"/>
                <a:cs typeface="Bitstream Charter"/>
              </a:rPr>
              <a:t>Prepared for CertiK security audit credits. October 2026.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103D12-61F7-4668-9F47-85987E5F2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0"/>
            <a:ext cx="5791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1ABC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91ABC3"/>
                </a:solidFill>
                <a:latin typeface="Bitstream Charter"/>
                <a:ea typeface="Bitstream Charter"/>
                <a:cs typeface="Bitstream Charter"/>
              </a:rPr>
              <a:t>FOKS Freight Escrow</a:t>
            </a:r>
          </a:p>
        </p:txBody>
      </p:sp>
    </p:spTree>
    <p:extLst>
      <p:ext uri="{BB962C8B-B14F-4D97-AF65-F5344CB8AC3E}">
        <p14:creationId xmlns:p14="http://schemas.microsoft.com/office/powerpoint/2010/main" val="7957015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1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60683F-5EE1-43DC-A124-4E7A3AA73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5791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1DCB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51DCBD"/>
                </a:solidFill>
                <a:latin typeface="Bitstream Charter"/>
                <a:ea typeface="Bitstream Charter"/>
                <a:cs typeface="Bitstream Charter"/>
              </a:rPr>
              <a:t>02 /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F85D15-D418-4877-8BC2-729584816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57912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FF6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EFF6FF"/>
                </a:solidFill>
                <a:latin typeface="Bitstream Charter"/>
                <a:ea typeface="Bitstream Charter"/>
                <a:cs typeface="Bitstream Charter"/>
              </a:rPr>
              <a:t>A load begins</a:t>
            </a:r>
          </a:p>
          <a:p xmlns:a="http://schemas.openxmlformats.org/drawingml/2006/main">
            <a:pPr>
              <a:defRPr sz="3600" b="1">
                <a:solidFill>
                  <a:srgbClr val="EFF6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EFF6FF"/>
                </a:solidFill>
                <a:latin typeface="Bitstream Charter"/>
                <a:ea typeface="Bitstream Charter"/>
                <a:cs typeface="Bitstream Charter"/>
              </a:rPr>
              <a:t>before payment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23F34E-A6E6-452B-9641-9EDC389D9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0"/>
            <a:ext cx="57912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7CDD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B7CDDF"/>
                </a:solidFill>
                <a:latin typeface="Bitstream Charter"/>
                <a:ea typeface="Bitstream Charter"/>
                <a:cs typeface="Bitstream Charter"/>
              </a:rPr>
              <a:t>Carriers commit operating costs. Shippers need an agreed approval process.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5B1322-08B7-4C4D-906D-B1641E96E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0"/>
            <a:ext cx="579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51DCB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51DCBD"/>
                </a:solidFill>
                <a:latin typeface="Bitstream Charter"/>
                <a:ea typeface="Bitstream Charter"/>
                <a:cs typeface="Bitstream Charter"/>
              </a:rPr>
              <a:t>Reserve the payment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6A97E9-8D16-48D8-986F-05F129EEB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72200"/>
            <a:ext cx="57912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FF6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EFF6FF"/>
                </a:solidFill>
                <a:latin typeface="Bitstream Charter"/>
                <a:ea typeface="Bitstream Charter"/>
                <a:cs typeface="Bitstream Charter"/>
              </a:rPr>
              <a:t>Give both parties visibility into funds committed to a load.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70072A-CF3C-4708-B7EB-AB715C5E1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20000"/>
            <a:ext cx="579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51DCB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51DCBD"/>
                </a:solidFill>
                <a:latin typeface="Bitstream Charter"/>
                <a:ea typeface="Bitstream Charter"/>
                <a:cs typeface="Bitstream Charter"/>
              </a:rPr>
              <a:t>Define the exceptions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1A70A3-376A-47CF-B621-61CED58EB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72450"/>
            <a:ext cx="57912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FF6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EFF6FF"/>
                </a:solidFill>
                <a:latin typeface="Bitstream Charter"/>
                <a:ea typeface="Bitstream Charter"/>
                <a:cs typeface="Bitstream Charter"/>
              </a:rPr>
              <a:t>Name an arbitrator before funding. Document how disputes are resolved.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FB1C6C-0578-4B5F-B5BA-ED9C1177C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0"/>
            <a:ext cx="5791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1ABC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91ABC3"/>
                </a:solidFill>
                <a:latin typeface="Bitstream Charter"/>
                <a:ea typeface="Bitstream Charter"/>
                <a:cs typeface="Bitstream Charter"/>
              </a:rPr>
              <a:t>FOKS Freight Escrow</a:t>
            </a:r>
          </a:p>
        </p:txBody>
      </p:sp>
    </p:spTree>
    <p:extLst>
      <p:ext uri="{BB962C8B-B14F-4D97-AF65-F5344CB8AC3E}">
        <p14:creationId xmlns:p14="http://schemas.microsoft.com/office/powerpoint/2010/main" val="15982217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21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B00F6C-BBB5-46F3-B804-0CBA2C638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5791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1DCB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51DCBD"/>
                </a:solidFill>
                <a:latin typeface="Bitstream Charter"/>
                <a:ea typeface="Bitstream Charter"/>
                <a:cs typeface="Bitstream Charter"/>
              </a:rPr>
              <a:t>03 /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028098-C8DC-4833-8C8E-32BBFD032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57912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FF6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EFF6FF"/>
                </a:solidFill>
                <a:latin typeface="Bitstream Charter"/>
                <a:ea typeface="Bitstream Charter"/>
                <a:cs typeface="Bitstream Charter"/>
              </a:rPr>
              <a:t>One load.</a:t>
            </a:r>
          </a:p>
          <a:p xmlns:a="http://schemas.openxmlformats.org/drawingml/2006/main">
            <a:pPr>
              <a:defRPr sz="3600" b="1">
                <a:solidFill>
                  <a:srgbClr val="EFF6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EFF6FF"/>
                </a:solidFill>
                <a:latin typeface="Bitstream Charter"/>
                <a:ea typeface="Bitstream Charter"/>
                <a:cs typeface="Bitstream Charter"/>
              </a:rPr>
              <a:t>One escrow.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BB5BB1-F433-4081-8873-3029DA23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0"/>
            <a:ext cx="57912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7CDD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B7CDDF"/>
                </a:solidFill>
                <a:latin typeface="Bitstream Charter"/>
                <a:ea typeface="Bitstream Charter"/>
                <a:cs typeface="Bitstream Charter"/>
              </a:rPr>
              <a:t>A transparent payment lifecycle with explicit human approval.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5D75E7-CF0B-4B94-BDE3-309CDB0FA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0"/>
            <a:ext cx="579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51DCB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51DCBD"/>
                </a:solidFill>
                <a:latin typeface="Bitstream Charter"/>
                <a:ea typeface="Bitstream Charter"/>
                <a:cs typeface="Bitstream Charter"/>
              </a:rPr>
              <a:t>Normal settlement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7394F6-6D89-4F49-941E-B75DC4887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72200"/>
            <a:ext cx="57912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FF6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EFF6FF"/>
                </a:solidFill>
                <a:latin typeface="Bitstream Charter"/>
                <a:ea typeface="Bitstream Charter"/>
                <a:cs typeface="Bitstream Charter"/>
              </a:rPr>
              <a:t>Shipper funds. Carrier accepts. Shipper approves delivery. Carrier receives payment.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B74ECD-F1ED-4E97-A2AA-8D390532E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20000"/>
            <a:ext cx="579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51DCB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51DCBD"/>
                </a:solidFill>
                <a:latin typeface="Bitstream Charter"/>
                <a:ea typeface="Bitstream Charter"/>
                <a:cs typeface="Bitstream Charter"/>
              </a:rPr>
              <a:t>Dispute or expiry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E80149-4AA1-45C1-BB27-DE2C01B82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72450"/>
            <a:ext cx="57912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FF6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EFF6FF"/>
                </a:solidFill>
                <a:latin typeface="Bitstream Charter"/>
                <a:ea typeface="Bitstream Charter"/>
                <a:cs typeface="Bitstream Charter"/>
              </a:rPr>
              <a:t>A dispute freezes payout for arbitration. An expired, unaccepted load can be refunded.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98069F-A7D7-4703-83D3-D997CD7AE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0"/>
            <a:ext cx="5791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1ABC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91ABC3"/>
                </a:solidFill>
                <a:latin typeface="Bitstream Charter"/>
                <a:ea typeface="Bitstream Charter"/>
                <a:cs typeface="Bitstream Charter"/>
              </a:rPr>
              <a:t>FOKS Freight Escrow</a:t>
            </a:r>
          </a:p>
        </p:txBody>
      </p:sp>
    </p:spTree>
    <p:extLst>
      <p:ext uri="{BB962C8B-B14F-4D97-AF65-F5344CB8AC3E}">
        <p14:creationId xmlns:p14="http://schemas.microsoft.com/office/powerpoint/2010/main" val="1943429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21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489A59-E334-4452-AD73-1F7095EEC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5791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1DCB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51DCBD"/>
                </a:solidFill>
                <a:latin typeface="Bitstream Charter"/>
                <a:ea typeface="Bitstream Charter"/>
                <a:cs typeface="Bitstream Charter"/>
              </a:rPr>
              <a:t>04 /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5317C3-87DF-47DC-BC11-3C1714C31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57912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FF6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EFF6FF"/>
                </a:solidFill>
                <a:latin typeface="Bitstream Charter"/>
                <a:ea typeface="Bitstream Charter"/>
                <a:cs typeface="Bitstream Charter"/>
              </a:rPr>
              <a:t>A runnable</a:t>
            </a:r>
          </a:p>
          <a:p xmlns:a="http://schemas.openxmlformats.org/drawingml/2006/main">
            <a:pPr>
              <a:defRPr sz="3600" b="1">
                <a:solidFill>
                  <a:srgbClr val="EFF6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EFF6FF"/>
                </a:solidFill>
                <a:latin typeface="Bitstream Charter"/>
                <a:ea typeface="Bitstream Charter"/>
                <a:cs typeface="Bitstream Charter"/>
              </a:rPr>
              <a:t>prototype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E88E09-21A2-4929-872F-07C43310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0"/>
            <a:ext cx="57912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7CDD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B7CDDF"/>
                </a:solidFill>
                <a:latin typeface="Bitstream Charter"/>
                <a:ea typeface="Bitstream Charter"/>
                <a:cs typeface="Bitstream Charter"/>
              </a:rPr>
              <a:t>Anchor 0.31.1 source, an interactive reference demo and eight passing model tests.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0EE10A-809F-4208-A382-1BC2881DC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0"/>
            <a:ext cx="579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51DCB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51DCBD"/>
                </a:solidFill>
                <a:latin typeface="Bitstream Charter"/>
                <a:ea typeface="Bitstream Charter"/>
                <a:cs typeface="Bitstream Charter"/>
              </a:rPr>
              <a:t>Verified today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AC5B23-8250-4B4D-BAD6-25E65182E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72200"/>
            <a:ext cx="57912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FF6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EFF6FF"/>
                </a:solidFill>
                <a:latin typeface="Bitstream Charter"/>
                <a:ea typeface="Bitstream Charter"/>
                <a:cs typeface="Bitstream Charter"/>
              </a:rPr>
              <a:t>Rust host cargo check passes. Model tests cover roles, replay, deadlines and conservation.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1CFDB3-70F5-4E03-A088-21B1D53C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20000"/>
            <a:ext cx="579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51DCB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51DCBD"/>
                </a:solidFill>
                <a:latin typeface="Bitstream Charter"/>
                <a:ea typeface="Bitstream Charter"/>
                <a:cs typeface="Bitstream Charter"/>
              </a:rPr>
              <a:t>Next engineering gate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223AB3-66CB-4D0C-A9F2-17288F629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72450"/>
            <a:ext cx="57912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FF6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EFF6FF"/>
                </a:solidFill>
                <a:latin typeface="Bitstream Charter"/>
                <a:ea typeface="Bitstream Charter"/>
                <a:cs typeface="Bitstream Charter"/>
              </a:rPr>
              <a:t>SBF build, validator integration, wallet UI and devnet deployment remain pending.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3478D7-BF09-4603-98AF-B50FB631D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0"/>
            <a:ext cx="5791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1ABC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91ABC3"/>
                </a:solidFill>
                <a:latin typeface="Bitstream Charter"/>
                <a:ea typeface="Bitstream Charter"/>
                <a:cs typeface="Bitstream Charter"/>
              </a:rPr>
              <a:t>FOKS Freight Escrow</a:t>
            </a:r>
          </a:p>
        </p:txBody>
      </p:sp>
    </p:spTree>
    <p:extLst>
      <p:ext uri="{BB962C8B-B14F-4D97-AF65-F5344CB8AC3E}">
        <p14:creationId xmlns:p14="http://schemas.microsoft.com/office/powerpoint/2010/main" val="9777323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21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1990F3-EC2C-486C-85F1-E0E2285BB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5791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1DCB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51DCBD"/>
                </a:solidFill>
                <a:latin typeface="Bitstream Charter"/>
                <a:ea typeface="Bitstream Charter"/>
                <a:cs typeface="Bitstream Charter"/>
              </a:rPr>
              <a:t>05 / SECURITY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CC3D6C-C058-4698-A3EA-350BB2CD0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57912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FF6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EFF6FF"/>
                </a:solidFill>
                <a:latin typeface="Bitstream Charter"/>
                <a:ea typeface="Bitstream Charter"/>
                <a:cs typeface="Bitstream Charter"/>
              </a:rPr>
              <a:t>Audit before</a:t>
            </a:r>
          </a:p>
          <a:p xmlns:a="http://schemas.openxmlformats.org/drawingml/2006/main">
            <a:pPr>
              <a:defRPr sz="3600" b="1">
                <a:solidFill>
                  <a:srgbClr val="EFF6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EFF6FF"/>
                </a:solidFill>
                <a:latin typeface="Bitstream Charter"/>
                <a:ea typeface="Bitstream Charter"/>
                <a:cs typeface="Bitstream Charter"/>
              </a:rPr>
              <a:t>user funds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C2558A-6C0F-4806-AD8B-07F631ED9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0"/>
            <a:ext cx="57912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7CDD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B7CDDF"/>
                </a:solidFill>
                <a:latin typeface="Bitstream Charter"/>
                <a:ea typeface="Bitstream Charter"/>
                <a:cs typeface="Bitstream Charter"/>
              </a:rPr>
              <a:t>A flaw in authorization or account constraints could misdirect reserved payment.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1884C6-AFED-4A5B-B705-33A21415E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0"/>
            <a:ext cx="579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51DCB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51DCBD"/>
                </a:solidFill>
                <a:latin typeface="Bitstream Charter"/>
                <a:ea typeface="Bitstream Charter"/>
                <a:cs typeface="Bitstream Charter"/>
              </a:rPr>
              <a:t>Requested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308349-9D71-4D12-9661-1E1D67B90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72200"/>
            <a:ext cx="57912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FF6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EFF6FF"/>
                </a:solidFill>
                <a:latin typeface="Bitstream Charter"/>
                <a:ea typeface="Bitstream Charter"/>
                <a:cs typeface="Bitstream Charter"/>
              </a:rPr>
              <a:t>PDA signing, token identity, recipient ownership, state transitions, arithmetic and replay.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A81C53-DFED-4F93-8939-900D2F885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20000"/>
            <a:ext cx="579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51DCB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51DCBD"/>
                </a:solidFill>
                <a:latin typeface="Bitstream Charter"/>
                <a:ea typeface="Bitstream Charter"/>
                <a:cs typeface="Bitstream Charter"/>
              </a:rPr>
              <a:t>Operational risks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B85E2C-BA83-48CA-B8F8-032984C4C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72450"/>
            <a:ext cx="57912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FF6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EFF6FF"/>
                </a:solidFill>
                <a:latin typeface="Bitstream Charter"/>
                <a:ea typeface="Bitstream Charter"/>
                <a:cs typeface="Bitstream Charter"/>
              </a:rPr>
              <a:t>Arbitrator power, upgrade authority, frozen token accounts, donated tokens and account lifecycle.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7B3D91-972D-4AA9-A37E-C2514658A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0"/>
            <a:ext cx="5791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1ABC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91ABC3"/>
                </a:solidFill>
                <a:latin typeface="Bitstream Charter"/>
                <a:ea typeface="Bitstream Charter"/>
                <a:cs typeface="Bitstream Charter"/>
              </a:rPr>
              <a:t>FOKS Freight Escrow</a:t>
            </a:r>
          </a:p>
        </p:txBody>
      </p:sp>
    </p:spTree>
    <p:extLst>
      <p:ext uri="{BB962C8B-B14F-4D97-AF65-F5344CB8AC3E}">
        <p14:creationId xmlns:p14="http://schemas.microsoft.com/office/powerpoint/2010/main" val="8898168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21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285DD3-B35D-4180-BFF9-3DE51D94B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5791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1DCB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51DCBD"/>
                </a:solidFill>
                <a:latin typeface="Bitstream Charter"/>
                <a:ea typeface="Bitstream Charter"/>
                <a:cs typeface="Bitstream Charter"/>
              </a:rPr>
              <a:t>06 / 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566419-67E0-494B-9D2E-14CFE66D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57912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FF6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EFF6FF"/>
                </a:solidFill>
                <a:latin typeface="Bitstream Charter"/>
                <a:ea typeface="Bitstream Charter"/>
                <a:cs typeface="Bitstream Charter"/>
              </a:rPr>
              <a:t>Earn the right</a:t>
            </a:r>
          </a:p>
          <a:p xmlns:a="http://schemas.openxmlformats.org/drawingml/2006/main">
            <a:pPr>
              <a:defRPr sz="3600" b="1">
                <a:solidFill>
                  <a:srgbClr val="EFF6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EFF6FF"/>
                </a:solidFill>
                <a:latin typeface="Bitstream Charter"/>
                <a:ea typeface="Bitstream Charter"/>
                <a:cs typeface="Bitstream Charter"/>
              </a:rPr>
              <a:t>to launch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665058-8FD8-4E62-9788-283302A5A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0"/>
            <a:ext cx="57912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7CDD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B7CDDF"/>
                </a:solidFill>
                <a:latin typeface="Bitstream Charter"/>
                <a:ea typeface="Bitstream Charter"/>
                <a:cs typeface="Bitstream Charter"/>
              </a:rPr>
              <a:t>Proposed milestones depend on engineering, audit and user-testing results.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B19E56-5C83-4BA3-9FC2-8B3EB876D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0"/>
            <a:ext cx="579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51DCB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51DCBD"/>
                </a:solidFill>
                <a:latin typeface="Bitstream Charter"/>
                <a:ea typeface="Bitstream Charter"/>
                <a:cs typeface="Bitstream Charter"/>
              </a:rPr>
              <a:t>Next 3 months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9E52E0-374E-41F1-8E88-82B6B2AF2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72200"/>
            <a:ext cx="57912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FF6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EFF6FF"/>
                </a:solidFill>
                <a:latin typeface="Bitstream Charter"/>
                <a:ea typeface="Bitstream Charter"/>
                <a:cs typeface="Bitstream Charter"/>
              </a:rPr>
              <a:t>Validator tests, devnet demo, operational review and prospective-user feedback.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9D1E7F-5576-4DE1-8AE4-1BC73E98B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20000"/>
            <a:ext cx="579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51DCB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51DCBD"/>
                </a:solidFill>
                <a:latin typeface="Bitstream Charter"/>
                <a:ea typeface="Bitstream Charter"/>
                <a:cs typeface="Bitstream Charter"/>
              </a:rPr>
              <a:t>6–12 month direction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BE001A-D28F-4776-A397-05B848E61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72450"/>
            <a:ext cx="57912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FF6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EFF6FF"/>
                </a:solidFill>
                <a:latin typeface="Bitstream Charter"/>
                <a:ea typeface="Bitstream Charter"/>
                <a:cs typeface="Bitstream Charter"/>
              </a:rPr>
              <a:t>External audit and remediation, then a conditional limited mainnet pilot and evidence-led expansion.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E61C49-1C65-41D2-86C6-01BA631A0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0"/>
            <a:ext cx="5791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1ABC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91ABC3"/>
                </a:solidFill>
                <a:latin typeface="Bitstream Charter"/>
                <a:ea typeface="Bitstream Charter"/>
                <a:cs typeface="Bitstream Charter"/>
              </a:rPr>
              <a:t>FOKS Freight Escrow</a:t>
            </a:r>
          </a:p>
        </p:txBody>
      </p:sp>
    </p:spTree>
    <p:extLst>
      <p:ext uri="{BB962C8B-B14F-4D97-AF65-F5344CB8AC3E}">
        <p14:creationId xmlns:p14="http://schemas.microsoft.com/office/powerpoint/2010/main" val="4252357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2026-10-03T16:58:23.1540000Z</dcterms:created>
  <dcterms:modified xsi:type="dcterms:W3CDTF">2026-10-03T16:58:23.1550000Z</dcterms:modified>
</coreProperties>
</file>